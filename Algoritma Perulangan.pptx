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7DEE8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53" autoAdjust="0"/>
    <p:restoredTop sz="94660"/>
  </p:normalViewPr>
  <p:slideViewPr>
    <p:cSldViewPr snapToGrid="0">
      <p:cViewPr varScale="1">
        <p:scale>
          <a:sx n="66" d="100"/>
          <a:sy n="66" d="100"/>
        </p:scale>
        <p:origin x="8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CCE910-71EA-4F53-B969-D73FD561D0D6}" type="datetimeFigureOut">
              <a:rPr lang="id-ID" smtClean="0"/>
              <a:t>15/10/2026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EE9290-77F2-4C25-8E6A-00FE888AC265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55619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E9290-77F2-4C25-8E6A-00FE888AC265}" type="slidenum">
              <a:rPr lang="id-ID" smtClean="0"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69368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E9290-77F2-4C25-8E6A-00FE888AC265}" type="slidenum">
              <a:rPr lang="id-ID" smtClean="0"/>
              <a:t>2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47934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E9290-77F2-4C25-8E6A-00FE888AC265}" type="slidenum">
              <a:rPr lang="id-ID" smtClean="0"/>
              <a:t>3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266750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EE9290-77F2-4C25-8E6A-00FE888AC265}" type="slidenum">
              <a:rPr lang="id-ID" smtClean="0"/>
              <a:t>7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659085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350B06-B074-48FC-8CFD-53D2CD8FB95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45968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7762" y="2556387"/>
            <a:ext cx="10795813" cy="195662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0877" y="4852220"/>
            <a:ext cx="10354809" cy="904568"/>
          </a:xfrm>
        </p:spPr>
        <p:txBody>
          <a:bodyPr>
            <a:normAutofit/>
          </a:bodyPr>
          <a:lstStyle>
            <a:lvl1pPr marL="0" indent="0" algn="r">
              <a:buNone/>
              <a:defRPr sz="3733" b="0" i="0">
                <a:solidFill>
                  <a:srgbClr val="00B0F0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39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092" y="171299"/>
            <a:ext cx="11012131" cy="1018035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595" y="1573162"/>
            <a:ext cx="10972800" cy="4758813"/>
          </a:xfrm>
        </p:spPr>
        <p:txBody>
          <a:bodyPr/>
          <a:lstStyle>
            <a:lvl1pPr algn="l">
              <a:defRPr sz="3733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74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0484" y="581378"/>
            <a:ext cx="8741245" cy="967132"/>
          </a:xfrm>
        </p:spPr>
        <p:txBody>
          <a:bodyPr>
            <a:normAutofit/>
          </a:bodyPr>
          <a:lstStyle>
            <a:lvl1pPr algn="l">
              <a:defRPr sz="4800">
                <a:solidFill>
                  <a:srgbClr val="00B0F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90684" y="1612488"/>
            <a:ext cx="8701549" cy="4678168"/>
          </a:xfrm>
        </p:spPr>
        <p:txBody>
          <a:bodyPr/>
          <a:lstStyle>
            <a:lvl1pPr>
              <a:defRPr sz="3733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60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32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12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0258" y="185210"/>
            <a:ext cx="10791153" cy="1018033"/>
          </a:xfrm>
        </p:spPr>
        <p:txBody>
          <a:bodyPr>
            <a:normAutofit/>
          </a:bodyPr>
          <a:lstStyle>
            <a:lvl1pPr algn="r">
              <a:defRPr sz="48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5839" y="2010709"/>
            <a:ext cx="5386917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5839" y="2640572"/>
            <a:ext cx="5386917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1" y="2010709"/>
            <a:ext cx="5389033" cy="639763"/>
          </a:xfrm>
        </p:spPr>
        <p:txBody>
          <a:bodyPr anchor="b"/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6001" y="2640572"/>
            <a:ext cx="5389033" cy="3035059"/>
          </a:xfrm>
        </p:spPr>
        <p:txBody>
          <a:bodyPr/>
          <a:lstStyle>
            <a:lvl1pPr algn="ctr">
              <a:defRPr sz="3200">
                <a:solidFill>
                  <a:schemeClr val="tx1"/>
                </a:solidFill>
              </a:defRPr>
            </a:lvl1pPr>
            <a:lvl2pPr algn="ctr">
              <a:defRPr sz="2667">
                <a:solidFill>
                  <a:schemeClr val="tx1"/>
                </a:solidFill>
              </a:defRPr>
            </a:lvl2pPr>
            <a:lvl3pPr algn="ctr">
              <a:defRPr sz="2400">
                <a:solidFill>
                  <a:schemeClr val="tx1"/>
                </a:solidFill>
              </a:defRPr>
            </a:lvl3pPr>
            <a:lvl4pPr algn="ctr">
              <a:defRPr sz="2133">
                <a:solidFill>
                  <a:schemeClr val="tx1"/>
                </a:solidFill>
              </a:defRPr>
            </a:lvl4pPr>
            <a:lvl5pPr algn="ctr">
              <a:defRPr sz="2133">
                <a:solidFill>
                  <a:schemeClr val="tx1"/>
                </a:solidFill>
              </a:defRPr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023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61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33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79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689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0103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08B89D22-1D6E-450B-881F-4D2A4C527F7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077967" y="3101618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65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E867DF-3DCA-4725-94F0-F2B6BD747A82}"/>
              </a:ext>
            </a:extLst>
          </p:cNvPr>
          <p:cNvSpPr txBox="1"/>
          <p:nvPr userDrawn="1"/>
        </p:nvSpPr>
        <p:spPr>
          <a:xfrm>
            <a:off x="-12200" y="6951663"/>
            <a:ext cx="11186167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867" dirty="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2812723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jpg"/><Relationship Id="rId4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7640" y="2347452"/>
            <a:ext cx="10156720" cy="2163096"/>
          </a:xfrm>
        </p:spPr>
        <p:txBody>
          <a:bodyPr>
            <a:normAutofit/>
          </a:bodyPr>
          <a:lstStyle/>
          <a:p>
            <a:pPr>
              <a:lnSpc>
                <a:spcPts val="5759"/>
              </a:lnSpc>
            </a:pPr>
            <a:r>
              <a:rPr lang="id-ID" b="1" dirty="0">
                <a:solidFill>
                  <a:srgbClr val="F8FAFC"/>
                </a:solidFill>
                <a:latin typeface="Space Grotesk"/>
              </a:rPr>
              <a:t>Algoritma Perulangan</a:t>
            </a:r>
            <a:br>
              <a:rPr lang="en-US" b="1" dirty="0">
                <a:solidFill>
                  <a:srgbClr val="F8FAFC"/>
                </a:solidFill>
                <a:latin typeface="Space Grotesk"/>
              </a:rPr>
            </a:br>
            <a:r>
              <a:rPr lang="id-ID" b="1" dirty="0">
                <a:solidFill>
                  <a:srgbClr val="F8FAFC"/>
                </a:solidFill>
                <a:latin typeface="Space Grotesk"/>
              </a:rPr>
              <a:t>For Loop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555C4F-DD6D-647E-4B70-9E55178CFB58}"/>
              </a:ext>
            </a:extLst>
          </p:cNvPr>
          <p:cNvSpPr txBox="1"/>
          <p:nvPr/>
        </p:nvSpPr>
        <p:spPr>
          <a:xfrm>
            <a:off x="7172325" y="2358104"/>
            <a:ext cx="33337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chemeClr val="bg1">
                    <a:lumMod val="85000"/>
                  </a:schemeClr>
                </a:solidFill>
                <a:latin typeface="Space Grotesk"/>
              </a:rPr>
              <a:t>PENGANTAR PEMROGRAMAN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ED72DB-85A2-2E3E-CD13-71A9C13637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631" y="5703880"/>
            <a:ext cx="5046909" cy="10377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2F21A7-31E8-5AB3-FF89-D83C9E8BE4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631" y="5708691"/>
            <a:ext cx="1102341" cy="103296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155406FC-4F99-AC14-D398-C736AF0FFD3A}"/>
              </a:ext>
            </a:extLst>
          </p:cNvPr>
          <p:cNvSpPr txBox="1"/>
          <p:nvPr/>
        </p:nvSpPr>
        <p:spPr>
          <a:xfrm>
            <a:off x="7345210" y="5396103"/>
            <a:ext cx="333375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2000" b="1" i="0" u="none" dirty="0" err="1">
                <a:solidFill>
                  <a:schemeClr val="bg1">
                    <a:lumMod val="85000"/>
                  </a:schemeClr>
                </a:solidFill>
                <a:latin typeface="Space Grotesk"/>
              </a:rPr>
              <a:t>Disusun</a:t>
            </a:r>
            <a:r>
              <a:rPr lang="en-US" sz="2000" b="1" i="0" u="none" dirty="0">
                <a:solidFill>
                  <a:schemeClr val="bg1">
                    <a:lumMod val="85000"/>
                  </a:schemeClr>
                </a:solidFill>
                <a:latin typeface="Space Grotesk"/>
              </a:rPr>
              <a:t> oleh Ryan </a:t>
            </a:r>
            <a:r>
              <a:rPr lang="en-US" sz="2000" b="1" i="0" u="none" dirty="0" err="1">
                <a:solidFill>
                  <a:schemeClr val="bg1">
                    <a:lumMod val="85000"/>
                  </a:schemeClr>
                </a:solidFill>
                <a:latin typeface="Space Grotesk"/>
              </a:rPr>
              <a:t>Fiqri</a:t>
            </a:r>
            <a:r>
              <a:rPr lang="en-US" sz="2000" b="1" i="0" u="none" dirty="0">
                <a:solidFill>
                  <a:schemeClr val="bg1">
                    <a:lumMod val="85000"/>
                  </a:schemeClr>
                </a:solidFill>
                <a:latin typeface="Space Grotesk"/>
              </a:rPr>
              <a:t> </a:t>
            </a:r>
            <a:r>
              <a:rPr lang="en-US" sz="2000" b="1" i="0" u="none" dirty="0" err="1">
                <a:solidFill>
                  <a:schemeClr val="bg1">
                    <a:lumMod val="85000"/>
                  </a:schemeClr>
                </a:solidFill>
                <a:latin typeface="Space Grotesk"/>
              </a:rPr>
              <a:t>Thufail</a:t>
            </a:r>
            <a:endParaRPr sz="2000" b="1" i="0" u="none" dirty="0">
              <a:solidFill>
                <a:schemeClr val="bg1">
                  <a:lumMod val="85000"/>
                </a:schemeClr>
              </a:solidFill>
              <a:latin typeface="Space Grotesk"/>
            </a:endParaRPr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85859"/>
            <a:ext cx="11012131" cy="1018035"/>
          </a:xfrm>
          <a:ln>
            <a:noFill/>
          </a:ln>
        </p:spPr>
        <p:txBody>
          <a:bodyPr>
            <a:noAutofit/>
          </a:bodyPr>
          <a:lstStyle/>
          <a:p>
            <a:pPr algn="l"/>
            <a:br>
              <a:rPr lang="en-US" sz="5400" b="1" dirty="0">
                <a:latin typeface="Space Grotesk"/>
              </a:rPr>
            </a:br>
            <a:r>
              <a:rPr lang="id-ID" sz="5400" b="1" dirty="0">
                <a:latin typeface="Space Grotesk"/>
              </a:rPr>
              <a:t>Apa Itu Looping?</a:t>
            </a:r>
            <a:br>
              <a:rPr lang="id-ID" sz="5400" b="1" dirty="0">
                <a:latin typeface="Space Grotesk"/>
              </a:rPr>
            </a:br>
            <a:endParaRPr lang="en-US" sz="5400" dirty="0"/>
          </a:p>
        </p:txBody>
      </p:sp>
      <p:sp>
        <p:nvSpPr>
          <p:cNvPr id="7" name="Rectangle: Single Corner Rounded 6">
            <a:extLst>
              <a:ext uri="{FF2B5EF4-FFF2-40B4-BE49-F238E27FC236}">
                <a16:creationId xmlns:a16="http://schemas.microsoft.com/office/drawing/2014/main" id="{D216397A-3434-857A-4B4C-E8C0ECFFE956}"/>
              </a:ext>
            </a:extLst>
          </p:cNvPr>
          <p:cNvSpPr/>
          <p:nvPr/>
        </p:nvSpPr>
        <p:spPr>
          <a:xfrm rot="10800000">
            <a:off x="7118425" y="-4"/>
            <a:ext cx="5073574" cy="879570"/>
          </a:xfrm>
          <a:prstGeom prst="round1Rect">
            <a:avLst>
              <a:gd name="adj" fmla="val 3294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C461FE-24D5-6EAB-9BE5-56DB65C7CE2C}"/>
              </a:ext>
            </a:extLst>
          </p:cNvPr>
          <p:cNvSpPr txBox="1"/>
          <p:nvPr/>
        </p:nvSpPr>
        <p:spPr>
          <a:xfrm>
            <a:off x="7118426" y="124816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PROGRAM STUDI TEKNIK INFORMATIKA</a:t>
            </a:r>
          </a:p>
          <a:p>
            <a:r>
              <a:rPr lang="id-ID" dirty="0"/>
              <a:t>UNIVERSITAS MUHAMMADIYAH CILEUNGSI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226EC-C167-A625-17DB-00D1DA31BCF2}"/>
              </a:ext>
            </a:extLst>
          </p:cNvPr>
          <p:cNvSpPr/>
          <p:nvPr/>
        </p:nvSpPr>
        <p:spPr>
          <a:xfrm>
            <a:off x="11252791" y="33713"/>
            <a:ext cx="963730" cy="784893"/>
          </a:xfrm>
          <a:prstGeom prst="rect">
            <a:avLst/>
          </a:prstGeom>
          <a:solidFill>
            <a:srgbClr val="B7DEE8"/>
          </a:solidFill>
          <a:ln>
            <a:solidFill>
              <a:srgbClr val="B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0109755-E2FA-3CBE-F028-1A50FF547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791" y="0"/>
            <a:ext cx="846308" cy="7930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8A467DD-4FF7-4DC0-484A-F4CA417F0572}"/>
              </a:ext>
            </a:extLst>
          </p:cNvPr>
          <p:cNvSpPr txBox="1"/>
          <p:nvPr/>
        </p:nvSpPr>
        <p:spPr>
          <a:xfrm>
            <a:off x="165463" y="31058"/>
            <a:ext cx="1641860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000" b="1" i="0" u="none" dirty="0">
                <a:latin typeface="Space Grotesk"/>
              </a:rPr>
              <a:t>KONSEP DASAR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FC8DE8-B765-348C-96D8-0AFBB01D26D6}"/>
              </a:ext>
            </a:extLst>
          </p:cNvPr>
          <p:cNvSpPr txBox="1"/>
          <p:nvPr/>
        </p:nvSpPr>
        <p:spPr>
          <a:xfrm>
            <a:off x="165463" y="1708121"/>
            <a:ext cx="8577901" cy="942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lang="id-ID" sz="2050" b="0" i="0" u="none" dirty="0">
                <a:solidFill>
                  <a:srgbClr val="475569"/>
                </a:solidFill>
                <a:latin typeface="Inter"/>
              </a:rPr>
              <a:t>Looping adalah salah satu konsep fundamental dalam pemrograman yang digunakan untuk menjalankan serangkaian perintah atau kode secara berulang hingga kondisi tertentu terpenuhi.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7A4FB3-442A-541B-6C85-A777D46D8806}"/>
              </a:ext>
            </a:extLst>
          </p:cNvPr>
          <p:cNvSpPr txBox="1"/>
          <p:nvPr/>
        </p:nvSpPr>
        <p:spPr>
          <a:xfrm>
            <a:off x="165463" y="3054914"/>
            <a:ext cx="741293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Inter"/>
              </a:rPr>
              <a:t>For Loop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EC830E-DD0F-2BA7-0957-1F08FD5F4D02}"/>
              </a:ext>
            </a:extLst>
          </p:cNvPr>
          <p:cNvSpPr txBox="1"/>
          <p:nvPr/>
        </p:nvSpPr>
        <p:spPr>
          <a:xfrm>
            <a:off x="165463" y="3429000"/>
            <a:ext cx="5331570" cy="6386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id-ID" sz="1350" b="0" i="0" u="none" dirty="0">
                <a:solidFill>
                  <a:srgbClr val="64748B"/>
                </a:solidFill>
                <a:latin typeface="Inter"/>
              </a:rPr>
              <a:t>For loop digunakan ketika jumlah iterasi sudah diketahui sebelum loop dijalankan. Loop </a:t>
            </a:r>
            <a:r>
              <a:rPr lang="id-ID" sz="1450" b="0" i="0" u="none" dirty="0">
                <a:solidFill>
                  <a:srgbClr val="64748B"/>
                </a:solidFill>
                <a:latin typeface="Inter"/>
              </a:rPr>
              <a:t>ini</a:t>
            </a:r>
            <a:r>
              <a:rPr lang="id-ID" sz="1350" b="0" i="0" u="none" dirty="0">
                <a:solidFill>
                  <a:srgbClr val="64748B"/>
                </a:solidFill>
                <a:latin typeface="Inter"/>
              </a:rPr>
              <a:t> terdiri dari tiga bagian utama: initialization, condition, dan increment/decrement.</a:t>
            </a:r>
            <a:endParaRPr sz="1350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25" name="Picture 24" descr="Circulation Sign Stock Illustrations – 10,594 Circulation Sign Stock  Illustrations, Vectors &amp; Clipart - Dreamstime">
            <a:extLst>
              <a:ext uri="{FF2B5EF4-FFF2-40B4-BE49-F238E27FC236}">
                <a16:creationId xmlns:a16="http://schemas.microsoft.com/office/drawing/2014/main" id="{3C2EC6ED-82DE-BF44-508A-46CC221ED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1760" y="1328381"/>
            <a:ext cx="3247339" cy="3247339"/>
          </a:xfrm>
          <a:prstGeom prst="rect">
            <a:avLst/>
          </a:prstGeom>
        </p:spPr>
      </p:pic>
      <p:pic>
        <p:nvPicPr>
          <p:cNvPr id="28" name="Picture 27" descr="Focused young programmer coding a video game in an anime-inspired setting  Stock Illustration | Adobe Stock">
            <a:extLst>
              <a:ext uri="{FF2B5EF4-FFF2-40B4-BE49-F238E27FC236}">
                <a16:creationId xmlns:a16="http://schemas.microsoft.com/office/drawing/2014/main" id="{2D69BF7E-A3B7-8E07-BC03-3ADFFA5A11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09" y="4195501"/>
            <a:ext cx="3852129" cy="2526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9" name="Picture 28" descr="🔥 [50+] Programmer Desktop Wallpapers | WallpaperSafari">
            <a:extLst>
              <a:ext uri="{FF2B5EF4-FFF2-40B4-BE49-F238E27FC236}">
                <a16:creationId xmlns:a16="http://schemas.microsoft.com/office/drawing/2014/main" id="{E9EC5E45-0002-5D92-4B83-54B80EA7ACC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97033" y="4195500"/>
            <a:ext cx="4043097" cy="252621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4" grpId="0"/>
      <p:bldP spid="18" grpId="0"/>
      <p:bldP spid="20" grpId="0"/>
      <p:bldP spid="2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Single Corner Rounded 1">
            <a:extLst>
              <a:ext uri="{FF2B5EF4-FFF2-40B4-BE49-F238E27FC236}">
                <a16:creationId xmlns:a16="http://schemas.microsoft.com/office/drawing/2014/main" id="{7EFEB2FF-399F-2BE7-64C7-04F8F08CA9DD}"/>
              </a:ext>
            </a:extLst>
          </p:cNvPr>
          <p:cNvSpPr/>
          <p:nvPr/>
        </p:nvSpPr>
        <p:spPr>
          <a:xfrm rot="10800000">
            <a:off x="7118425" y="-4"/>
            <a:ext cx="5073574" cy="879570"/>
          </a:xfrm>
          <a:prstGeom prst="round1Rect">
            <a:avLst>
              <a:gd name="adj" fmla="val 3294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F28F44-1BD0-403A-7CE4-CB5DD1A0E55D}"/>
              </a:ext>
            </a:extLst>
          </p:cNvPr>
          <p:cNvSpPr txBox="1"/>
          <p:nvPr/>
        </p:nvSpPr>
        <p:spPr>
          <a:xfrm>
            <a:off x="7118426" y="124816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PROGRAM STUDI TEKNIK INFORMATIKA</a:t>
            </a:r>
          </a:p>
          <a:p>
            <a:r>
              <a:rPr lang="id-ID" dirty="0"/>
              <a:t>UNIVERSITAS MUHAMMADIYAH CILEUNGSI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52195C-AFF6-84ED-0F8A-0AE79E7E8025}"/>
              </a:ext>
            </a:extLst>
          </p:cNvPr>
          <p:cNvSpPr/>
          <p:nvPr/>
        </p:nvSpPr>
        <p:spPr>
          <a:xfrm>
            <a:off x="11252791" y="33713"/>
            <a:ext cx="963730" cy="784893"/>
          </a:xfrm>
          <a:prstGeom prst="rect">
            <a:avLst/>
          </a:prstGeom>
          <a:solidFill>
            <a:srgbClr val="B7DEE8"/>
          </a:solidFill>
          <a:ln>
            <a:solidFill>
              <a:srgbClr val="B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E38C46-8913-C2DD-EED7-4095243F0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791" y="0"/>
            <a:ext cx="846308" cy="79304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A23E955-DB61-D73D-BD96-5431C5963B91}"/>
              </a:ext>
            </a:extLst>
          </p:cNvPr>
          <p:cNvSpPr txBox="1"/>
          <p:nvPr/>
        </p:nvSpPr>
        <p:spPr>
          <a:xfrm>
            <a:off x="80310" y="200274"/>
            <a:ext cx="6657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id-ID" sz="4800" b="1" i="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Fungsi Utama For Loop</a:t>
            </a:r>
          </a:p>
        </p:txBody>
      </p:sp>
      <p:sp>
        <p:nvSpPr>
          <p:cNvPr id="42" name="Rounded Rectangle 1">
            <a:extLst>
              <a:ext uri="{FF2B5EF4-FFF2-40B4-BE49-F238E27FC236}">
                <a16:creationId xmlns:a16="http://schemas.microsoft.com/office/drawing/2014/main" id="{27B0BA1F-0F8C-4AB7-3F86-7893CD1776D0}"/>
              </a:ext>
            </a:extLst>
          </p:cNvPr>
          <p:cNvSpPr/>
          <p:nvPr/>
        </p:nvSpPr>
        <p:spPr>
          <a:xfrm>
            <a:off x="557414" y="2904958"/>
            <a:ext cx="3454449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2">
            <a:extLst>
              <a:ext uri="{FF2B5EF4-FFF2-40B4-BE49-F238E27FC236}">
                <a16:creationId xmlns:a16="http://schemas.microsoft.com/office/drawing/2014/main" id="{E8BF86A2-1F88-8D53-DF3D-DD7F80820A88}"/>
              </a:ext>
            </a:extLst>
          </p:cNvPr>
          <p:cNvSpPr/>
          <p:nvPr/>
        </p:nvSpPr>
        <p:spPr>
          <a:xfrm>
            <a:off x="4316663" y="2870033"/>
            <a:ext cx="3454449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3">
            <a:extLst>
              <a:ext uri="{FF2B5EF4-FFF2-40B4-BE49-F238E27FC236}">
                <a16:creationId xmlns:a16="http://schemas.microsoft.com/office/drawing/2014/main" id="{8763EA14-A980-6A93-2F3A-EB6241C283A7}"/>
              </a:ext>
            </a:extLst>
          </p:cNvPr>
          <p:cNvSpPr/>
          <p:nvPr/>
        </p:nvSpPr>
        <p:spPr>
          <a:xfrm>
            <a:off x="8075913" y="2870033"/>
            <a:ext cx="3454449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image.png">
            <a:extLst>
              <a:ext uri="{FF2B5EF4-FFF2-40B4-BE49-F238E27FC236}">
                <a16:creationId xmlns:a16="http://schemas.microsoft.com/office/drawing/2014/main" id="{45C952B6-554D-2CAB-E060-8B501C9048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739" y="3260558"/>
            <a:ext cx="266700" cy="304800"/>
          </a:xfrm>
          <a:prstGeom prst="rect">
            <a:avLst/>
          </a:prstGeom>
        </p:spPr>
      </p:pic>
      <p:pic>
        <p:nvPicPr>
          <p:cNvPr id="50" name="Picture 49" descr="image.png">
            <a:extLst>
              <a:ext uri="{FF2B5EF4-FFF2-40B4-BE49-F238E27FC236}">
                <a16:creationId xmlns:a16="http://schemas.microsoft.com/office/drawing/2014/main" id="{4BB50243-E554-1EED-621E-B105D2857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0988" y="3260558"/>
            <a:ext cx="342900" cy="304800"/>
          </a:xfrm>
          <a:prstGeom prst="rect">
            <a:avLst/>
          </a:prstGeom>
        </p:spPr>
      </p:pic>
      <p:pic>
        <p:nvPicPr>
          <p:cNvPr id="52" name="Picture 51" descr="image.png">
            <a:extLst>
              <a:ext uri="{FF2B5EF4-FFF2-40B4-BE49-F238E27FC236}">
                <a16:creationId xmlns:a16="http://schemas.microsoft.com/office/drawing/2014/main" id="{323423E3-34F6-FF40-8324-5B82112DB8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0238" y="3260558"/>
            <a:ext cx="228600" cy="30480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8275BE05-9B6A-BA83-3170-07431CDC9B40}"/>
              </a:ext>
            </a:extLst>
          </p:cNvPr>
          <p:cNvSpPr txBox="1"/>
          <p:nvPr/>
        </p:nvSpPr>
        <p:spPr>
          <a:xfrm>
            <a:off x="871739" y="3793958"/>
            <a:ext cx="370886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  <a:latin typeface="Inter"/>
              </a:rPr>
              <a:t>Iterasi</a:t>
            </a:r>
            <a:r>
              <a:rPr sz="1800" b="1" i="0" u="none" dirty="0">
                <a:solidFill>
                  <a:srgbClr val="0F172A"/>
                </a:solidFill>
                <a:latin typeface="Inter"/>
              </a:rPr>
              <a:t> Data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675721-B560-CDF5-9DBF-AF92F4E56178}"/>
              </a:ext>
            </a:extLst>
          </p:cNvPr>
          <p:cNvSpPr txBox="1"/>
          <p:nvPr/>
        </p:nvSpPr>
        <p:spPr>
          <a:xfrm>
            <a:off x="871739" y="4222583"/>
            <a:ext cx="29210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Menampilkan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banyak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data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sekaligus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217A2D-2BA8-E8C4-571C-7823813F316B}"/>
              </a:ext>
            </a:extLst>
          </p:cNvPr>
          <p:cNvSpPr txBox="1"/>
          <p:nvPr/>
        </p:nvSpPr>
        <p:spPr>
          <a:xfrm>
            <a:off x="4630988" y="3793958"/>
            <a:ext cx="370886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0F172A"/>
                </a:solidFill>
                <a:latin typeface="Inter"/>
              </a:rPr>
              <a:t>Elemen</a:t>
            </a:r>
            <a:r>
              <a:rPr sz="1800" b="1" i="0" u="none" dirty="0">
                <a:solidFill>
                  <a:srgbClr val="0F172A"/>
                </a:solidFill>
                <a:latin typeface="Inter"/>
              </a:rPr>
              <a:t> Visual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6AB4B04-7320-B679-7C4C-C3FA9AFB45E5}"/>
              </a:ext>
            </a:extLst>
          </p:cNvPr>
          <p:cNvSpPr txBox="1"/>
          <p:nvPr/>
        </p:nvSpPr>
        <p:spPr>
          <a:xfrm>
            <a:off x="4630988" y="4222583"/>
            <a:ext cx="29210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Menggandakan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komponen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tampilan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475569"/>
                </a:solidFill>
                <a:latin typeface="Inter"/>
              </a:rPr>
              <a:t>layar</a:t>
            </a:r>
            <a:r>
              <a:rPr sz="1350" b="0" i="0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8BB9D83-217F-BA40-C175-B8B68FFD71DD}"/>
              </a:ext>
            </a:extLst>
          </p:cNvPr>
          <p:cNvSpPr txBox="1"/>
          <p:nvPr/>
        </p:nvSpPr>
        <p:spPr>
          <a:xfrm>
            <a:off x="8390238" y="3793958"/>
            <a:ext cx="3708861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Inter"/>
              </a:rPr>
              <a:t>Komputasi Massal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76DC540-1115-1AD7-F01A-1E83A27D79B3}"/>
              </a:ext>
            </a:extLst>
          </p:cNvPr>
          <p:cNvSpPr txBox="1"/>
          <p:nvPr/>
        </p:nvSpPr>
        <p:spPr>
          <a:xfrm>
            <a:off x="8390238" y="4222583"/>
            <a:ext cx="2921049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Inter"/>
              </a:rPr>
              <a:t>Melakukan perhitungan matematis otomatis.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2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2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2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4" grpId="0" animBg="1"/>
      <p:bldP spid="46" grpId="0" animBg="1"/>
      <p:bldP spid="54" grpId="0"/>
      <p:bldP spid="56" grpId="0"/>
      <p:bldP spid="58" grpId="0"/>
      <p:bldP spid="60" grpId="0"/>
      <p:bldP spid="62" grpId="0"/>
      <p:bldP spid="6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 52">
            <a:extLst>
              <a:ext uri="{FF2B5EF4-FFF2-40B4-BE49-F238E27FC236}">
                <a16:creationId xmlns:a16="http://schemas.microsoft.com/office/drawing/2014/main" id="{D2261252-8A9A-12EF-053E-EAA54468EA42}"/>
              </a:ext>
            </a:extLst>
          </p:cNvPr>
          <p:cNvSpPr/>
          <p:nvPr/>
        </p:nvSpPr>
        <p:spPr>
          <a:xfrm>
            <a:off x="-66403" y="3426100"/>
            <a:ext cx="12324805" cy="18076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771E735-B295-8A79-D500-BBC3E4E55488}"/>
              </a:ext>
            </a:extLst>
          </p:cNvPr>
          <p:cNvSpPr/>
          <p:nvPr/>
        </p:nvSpPr>
        <p:spPr>
          <a:xfrm>
            <a:off x="-108284" y="1256853"/>
            <a:ext cx="12324805" cy="218451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0" y="124816"/>
            <a:ext cx="10791153" cy="1018033"/>
          </a:xfrm>
        </p:spPr>
        <p:txBody>
          <a:bodyPr>
            <a:normAutofit/>
          </a:bodyPr>
          <a:lstStyle/>
          <a:p>
            <a:pPr algn="l"/>
            <a:r>
              <a:rPr lang="id-ID" b="1" dirty="0">
                <a:latin typeface="Space Grotesk"/>
              </a:rPr>
              <a:t>Tiga Bagian Penting Sintaks</a:t>
            </a:r>
          </a:p>
        </p:txBody>
      </p:sp>
      <p:sp>
        <p:nvSpPr>
          <p:cNvPr id="16" name="Rectangle: Single Corner Rounded 15">
            <a:extLst>
              <a:ext uri="{FF2B5EF4-FFF2-40B4-BE49-F238E27FC236}">
                <a16:creationId xmlns:a16="http://schemas.microsoft.com/office/drawing/2014/main" id="{E4299009-0620-BD63-A393-226E57057FDA}"/>
              </a:ext>
            </a:extLst>
          </p:cNvPr>
          <p:cNvSpPr/>
          <p:nvPr/>
        </p:nvSpPr>
        <p:spPr>
          <a:xfrm rot="10800000">
            <a:off x="7118425" y="-4"/>
            <a:ext cx="5073574" cy="879570"/>
          </a:xfrm>
          <a:prstGeom prst="round1Rect">
            <a:avLst>
              <a:gd name="adj" fmla="val 3294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41D3CA-091C-32B2-77EB-31EB670D20D5}"/>
              </a:ext>
            </a:extLst>
          </p:cNvPr>
          <p:cNvSpPr txBox="1"/>
          <p:nvPr/>
        </p:nvSpPr>
        <p:spPr>
          <a:xfrm>
            <a:off x="7118426" y="124816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PROGRAM STUDI TEKNIK INFORMATIKA</a:t>
            </a:r>
          </a:p>
          <a:p>
            <a:r>
              <a:rPr lang="id-ID" dirty="0"/>
              <a:t>UNIVERSITAS MUHAMMADIYAH CILEUNGSI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7B55B5-9942-C40E-9B97-24E4910AAE9A}"/>
              </a:ext>
            </a:extLst>
          </p:cNvPr>
          <p:cNvSpPr/>
          <p:nvPr/>
        </p:nvSpPr>
        <p:spPr>
          <a:xfrm>
            <a:off x="11252791" y="33713"/>
            <a:ext cx="963730" cy="784893"/>
          </a:xfrm>
          <a:prstGeom prst="rect">
            <a:avLst/>
          </a:prstGeom>
          <a:solidFill>
            <a:srgbClr val="B7DEE8"/>
          </a:solidFill>
          <a:ln>
            <a:solidFill>
              <a:srgbClr val="B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EDB8D0F-41C5-4BB0-F99F-30B1683C17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791" y="0"/>
            <a:ext cx="846308" cy="793041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57DA4154-B9F1-D794-6CFC-1EAC9B770A2E}"/>
              </a:ext>
            </a:extLst>
          </p:cNvPr>
          <p:cNvSpPr txBox="1"/>
          <p:nvPr/>
        </p:nvSpPr>
        <p:spPr>
          <a:xfrm>
            <a:off x="144580" y="2178303"/>
            <a:ext cx="742950" cy="2308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3B82F6"/>
                </a:solidFill>
                <a:latin typeface="Inter"/>
              </a:rPr>
              <a:t>01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03E73CA-1591-E201-143C-7B9490D50EB5}"/>
              </a:ext>
            </a:extLst>
          </p:cNvPr>
          <p:cNvSpPr txBox="1"/>
          <p:nvPr/>
        </p:nvSpPr>
        <p:spPr>
          <a:xfrm>
            <a:off x="939209" y="1924387"/>
            <a:ext cx="410051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Sequence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64C2084-00B6-B801-9FE4-A4B57076F9C6}"/>
              </a:ext>
            </a:extLst>
          </p:cNvPr>
          <p:cNvSpPr txBox="1"/>
          <p:nvPr/>
        </p:nvSpPr>
        <p:spPr>
          <a:xfrm>
            <a:off x="939209" y="2210137"/>
            <a:ext cx="4820653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350" dirty="0">
                <a:solidFill>
                  <a:srgbClr val="64748B"/>
                </a:solidFill>
                <a:latin typeface="Inter"/>
              </a:rPr>
              <a:t>S</a:t>
            </a:r>
            <a:r>
              <a:rPr lang="id-ID" sz="1350" b="0" i="0" u="none" dirty="0">
                <a:solidFill>
                  <a:srgbClr val="64748B"/>
                </a:solidFill>
                <a:latin typeface="Inter"/>
              </a:rPr>
              <a:t>ebuah nilai yang dapat diiterasikan atau bisa diulang-ulang. Tipe data yang memiliki sifat tersebut yaitu string, tuple, list</a:t>
            </a:r>
            <a:endParaRPr sz="1350" b="0" i="0" u="none" dirty="0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39" name="Picture 38" descr="Simply data: isometric illustrations">
            <a:extLst>
              <a:ext uri="{FF2B5EF4-FFF2-40B4-BE49-F238E27FC236}">
                <a16:creationId xmlns:a16="http://schemas.microsoft.com/office/drawing/2014/main" id="{F0BE6E84-C7ED-07FA-7CDB-05A64D3E5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5513" y="1256854"/>
            <a:ext cx="2899546" cy="2184513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6E9330C0-C467-7B65-BC90-053534524DF4}"/>
              </a:ext>
            </a:extLst>
          </p:cNvPr>
          <p:cNvSpPr txBox="1"/>
          <p:nvPr/>
        </p:nvSpPr>
        <p:spPr>
          <a:xfrm>
            <a:off x="8799353" y="1257321"/>
            <a:ext cx="410051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 i="0" u="none" dirty="0" err="1">
                <a:solidFill>
                  <a:srgbClr val="0F172A"/>
                </a:solidFill>
                <a:latin typeface="Inter"/>
              </a:rPr>
              <a:t>Illustation</a:t>
            </a:r>
            <a:r>
              <a:rPr lang="en-US" sz="1650" b="1" i="0" u="none" dirty="0">
                <a:solidFill>
                  <a:srgbClr val="0F172A"/>
                </a:solidFill>
                <a:latin typeface="Inter"/>
              </a:rPr>
              <a:t> </a:t>
            </a:r>
            <a:r>
              <a:rPr sz="1650" b="1" i="0" u="none" dirty="0">
                <a:solidFill>
                  <a:srgbClr val="0F172A"/>
                </a:solidFill>
                <a:latin typeface="Inter"/>
              </a:rPr>
              <a:t>S</a:t>
            </a:r>
            <a:r>
              <a:rPr lang="id-ID" sz="1650" b="1" i="0" u="none" dirty="0">
                <a:solidFill>
                  <a:srgbClr val="0F172A"/>
                </a:solidFill>
                <a:latin typeface="Inter"/>
              </a:rPr>
              <a:t>equence</a:t>
            </a:r>
            <a:endParaRPr sz="165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C704FBF-4B86-1B94-3695-E7840EB856A2}"/>
              </a:ext>
            </a:extLst>
          </p:cNvPr>
          <p:cNvSpPr txBox="1"/>
          <p:nvPr/>
        </p:nvSpPr>
        <p:spPr>
          <a:xfrm>
            <a:off x="6769862" y="4193089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Inter"/>
              </a:rPr>
              <a:t>02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4E8737-1E9D-3A41-9AE4-B623F451ECD1}"/>
              </a:ext>
            </a:extLst>
          </p:cNvPr>
          <p:cNvSpPr txBox="1"/>
          <p:nvPr/>
        </p:nvSpPr>
        <p:spPr>
          <a:xfrm>
            <a:off x="7598537" y="4178802"/>
            <a:ext cx="4500562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Val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85B6830-E7CD-4D51-267B-0898DAFD1229}"/>
              </a:ext>
            </a:extLst>
          </p:cNvPr>
          <p:cNvSpPr txBox="1"/>
          <p:nvPr/>
        </p:nvSpPr>
        <p:spPr>
          <a:xfrm>
            <a:off x="7598537" y="4464552"/>
            <a:ext cx="42862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Setiap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item yang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diekstrak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</a:t>
            </a:r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dari</a:t>
            </a:r>
            <a:r>
              <a:rPr sz="1350" b="0" i="0" u="none" dirty="0">
                <a:solidFill>
                  <a:srgbClr val="64748B"/>
                </a:solidFill>
                <a:latin typeface="Inter"/>
              </a:rPr>
              <a:t> sequence.</a:t>
            </a:r>
          </a:p>
        </p:txBody>
      </p:sp>
      <p:pic>
        <p:nvPicPr>
          <p:cNvPr id="48" name="Picture 47" descr="Internet network security isometric flat 3d illustration concept 21272484  Vector Art at Vecteezy">
            <a:extLst>
              <a:ext uri="{FF2B5EF4-FFF2-40B4-BE49-F238E27FC236}">
                <a16:creationId xmlns:a16="http://schemas.microsoft.com/office/drawing/2014/main" id="{C3F92CB8-678B-B2D8-FDA9-ED919CE359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4724"/>
          <a:stretch>
            <a:fillRect/>
          </a:stretch>
        </p:blipFill>
        <p:spPr>
          <a:xfrm>
            <a:off x="0" y="3441366"/>
            <a:ext cx="2303911" cy="1640487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3E41D33-2D36-9B90-DAC8-E00B629A4705}"/>
              </a:ext>
            </a:extLst>
          </p:cNvPr>
          <p:cNvSpPr txBox="1"/>
          <p:nvPr/>
        </p:nvSpPr>
        <p:spPr>
          <a:xfrm>
            <a:off x="163938" y="3424527"/>
            <a:ext cx="410051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 i="0" u="none" dirty="0" err="1">
                <a:solidFill>
                  <a:srgbClr val="0F172A"/>
                </a:solidFill>
                <a:latin typeface="Inter"/>
              </a:rPr>
              <a:t>Illustation</a:t>
            </a:r>
            <a:r>
              <a:rPr lang="en-US" sz="1650" b="1" i="0" u="none" dirty="0">
                <a:solidFill>
                  <a:srgbClr val="0F172A"/>
                </a:solidFill>
                <a:latin typeface="Inter"/>
              </a:rPr>
              <a:t> Vall</a:t>
            </a:r>
            <a:endParaRPr sz="165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D2FDB5-BC60-BC5A-0E73-D5280C05C450}"/>
              </a:ext>
            </a:extLst>
          </p:cNvPr>
          <p:cNvSpPr txBox="1"/>
          <p:nvPr/>
        </p:nvSpPr>
        <p:spPr>
          <a:xfrm>
            <a:off x="163938" y="5806709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0F172A"/>
                </a:solidFill>
                <a:latin typeface="Inter"/>
              </a:rPr>
              <a:t>03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A7E7ECD-B1C6-FF9F-4DF9-98249B0EBB29}"/>
              </a:ext>
            </a:extLst>
          </p:cNvPr>
          <p:cNvSpPr txBox="1"/>
          <p:nvPr/>
        </p:nvSpPr>
        <p:spPr>
          <a:xfrm>
            <a:off x="992613" y="5792422"/>
            <a:ext cx="551318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 dirty="0">
                <a:solidFill>
                  <a:srgbClr val="0F172A"/>
                </a:solidFill>
                <a:latin typeface="Inter"/>
              </a:rPr>
              <a:t>Statement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35655BA-4826-3158-C8DC-BC379E2F93C3}"/>
              </a:ext>
            </a:extLst>
          </p:cNvPr>
          <p:cNvSpPr txBox="1"/>
          <p:nvPr/>
        </p:nvSpPr>
        <p:spPr>
          <a:xfrm>
            <a:off x="992613" y="6078172"/>
            <a:ext cx="5207195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 dirty="0" err="1">
                <a:solidFill>
                  <a:srgbClr val="64748B"/>
                </a:solidFill>
                <a:latin typeface="Inter"/>
              </a:rPr>
              <a:t>Perintah</a:t>
            </a:r>
            <a:r>
              <a:rPr lang="id-ID" sz="1350" b="0" i="0" u="none" dirty="0">
                <a:solidFill>
                  <a:srgbClr val="64748B"/>
                </a:solidFill>
                <a:latin typeface="Inter"/>
              </a:rPr>
              <a:t> yang harus dieksekusi selama kondisi tertentu belum terpenuhi.</a:t>
            </a:r>
          </a:p>
          <a:p>
            <a:pPr algn="l"/>
            <a:r>
              <a:rPr sz="1350" b="0" i="0" u="none" dirty="0">
                <a:solidFill>
                  <a:srgbClr val="64748B"/>
                </a:solidFill>
                <a:latin typeface="Inter"/>
              </a:rPr>
              <a:t>.</a:t>
            </a:r>
          </a:p>
        </p:txBody>
      </p:sp>
      <p:pic>
        <p:nvPicPr>
          <p:cNvPr id="62" name="Picture 61" descr="Flat 3d concept isometric illustration high tech box data processing process  17310890 Vector Art at Vecteezy">
            <a:extLst>
              <a:ext uri="{FF2B5EF4-FFF2-40B4-BE49-F238E27FC236}">
                <a16:creationId xmlns:a16="http://schemas.microsoft.com/office/drawing/2014/main" id="{5BA49247-A46B-8CFF-20BC-EC6050CD6D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229" r="3500" b="5527"/>
          <a:stretch>
            <a:fillRect/>
          </a:stretch>
        </p:blipFill>
        <p:spPr>
          <a:xfrm>
            <a:off x="8728403" y="5192469"/>
            <a:ext cx="2846656" cy="1655724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5092AF1A-9CF1-9475-C220-94012EE10367}"/>
              </a:ext>
            </a:extLst>
          </p:cNvPr>
          <p:cNvSpPr txBox="1"/>
          <p:nvPr/>
        </p:nvSpPr>
        <p:spPr>
          <a:xfrm>
            <a:off x="7575433" y="5271837"/>
            <a:ext cx="4100512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650" b="1" i="0" u="none" dirty="0" err="1">
                <a:solidFill>
                  <a:srgbClr val="0F172A"/>
                </a:solidFill>
                <a:latin typeface="Inter"/>
              </a:rPr>
              <a:t>Illustation</a:t>
            </a:r>
            <a:r>
              <a:rPr lang="en-US" sz="1650" b="1" i="0" u="none" dirty="0">
                <a:solidFill>
                  <a:srgbClr val="0F172A"/>
                </a:solidFill>
                <a:latin typeface="Inter"/>
              </a:rPr>
              <a:t> Statement</a:t>
            </a:r>
            <a:endParaRPr sz="1650" b="1" i="0" u="none" dirty="0">
              <a:solidFill>
                <a:srgbClr val="0F172A"/>
              </a:solidFill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406137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25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25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25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25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2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25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6" grpId="0"/>
      <p:bldP spid="38" grpId="0"/>
      <p:bldP spid="41" grpId="0"/>
      <p:bldP spid="43" grpId="0"/>
      <p:bldP spid="45" grpId="0"/>
      <p:bldP spid="47" grpId="0"/>
      <p:bldP spid="50" grpId="0"/>
      <p:bldP spid="57" grpId="0"/>
      <p:bldP spid="59" grpId="0"/>
      <p:bldP spid="61" grpId="0"/>
      <p:bldP spid="6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3013E986-4562-6860-43C1-612B65636A8E}"/>
              </a:ext>
            </a:extLst>
          </p:cNvPr>
          <p:cNvSpPr txBox="1"/>
          <p:nvPr/>
        </p:nvSpPr>
        <p:spPr>
          <a:xfrm>
            <a:off x="112657" y="-87392"/>
            <a:ext cx="4441344" cy="135421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1" i="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Cara </a:t>
            </a:r>
            <a:r>
              <a:rPr sz="4400" b="1" i="0" u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Kerja</a:t>
            </a:r>
            <a:r>
              <a:rPr sz="4400" b="1" i="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 Langkah</a:t>
            </a:r>
            <a:endParaRPr lang="en-US" sz="4400" b="1" i="0" u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pace Grotesk"/>
            </a:endParaRPr>
          </a:p>
          <a:p>
            <a:pPr algn="l"/>
            <a:r>
              <a:rPr sz="4400" b="1" i="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demi Langkah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2840E2-7011-C63D-DC08-3AFFB9B1DD66}"/>
              </a:ext>
            </a:extLst>
          </p:cNvPr>
          <p:cNvSpPr/>
          <p:nvPr/>
        </p:nvSpPr>
        <p:spPr>
          <a:xfrm>
            <a:off x="802105" y="3561347"/>
            <a:ext cx="10972800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3">
            <a:extLst>
              <a:ext uri="{FF2B5EF4-FFF2-40B4-BE49-F238E27FC236}">
                <a16:creationId xmlns:a16="http://schemas.microsoft.com/office/drawing/2014/main" id="{FCC5C97A-9BDE-2DEF-C5F3-B1DE8A017517}"/>
              </a:ext>
            </a:extLst>
          </p:cNvPr>
          <p:cNvSpPr/>
          <p:nvPr/>
        </p:nvSpPr>
        <p:spPr>
          <a:xfrm>
            <a:off x="802105" y="33327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4">
            <a:extLst>
              <a:ext uri="{FF2B5EF4-FFF2-40B4-BE49-F238E27FC236}">
                <a16:creationId xmlns:a16="http://schemas.microsoft.com/office/drawing/2014/main" id="{227E752F-4C8D-1645-40C6-9810A03E03A9}"/>
              </a:ext>
            </a:extLst>
          </p:cNvPr>
          <p:cNvSpPr/>
          <p:nvPr/>
        </p:nvSpPr>
        <p:spPr>
          <a:xfrm>
            <a:off x="3042414" y="33327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29DEDF4E-1FFE-BA47-8F12-1B5F658A45BC}"/>
              </a:ext>
            </a:extLst>
          </p:cNvPr>
          <p:cNvSpPr/>
          <p:nvPr/>
        </p:nvSpPr>
        <p:spPr>
          <a:xfrm>
            <a:off x="5282724" y="33327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6">
            <a:extLst>
              <a:ext uri="{FF2B5EF4-FFF2-40B4-BE49-F238E27FC236}">
                <a16:creationId xmlns:a16="http://schemas.microsoft.com/office/drawing/2014/main" id="{E9EA0B52-49E8-917B-2687-FD1C9E225983}"/>
              </a:ext>
            </a:extLst>
          </p:cNvPr>
          <p:cNvSpPr/>
          <p:nvPr/>
        </p:nvSpPr>
        <p:spPr>
          <a:xfrm>
            <a:off x="7523034" y="33327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7">
            <a:extLst>
              <a:ext uri="{FF2B5EF4-FFF2-40B4-BE49-F238E27FC236}">
                <a16:creationId xmlns:a16="http://schemas.microsoft.com/office/drawing/2014/main" id="{E81846EB-E4C4-CF23-6334-098F44A14EFB}"/>
              </a:ext>
            </a:extLst>
          </p:cNvPr>
          <p:cNvSpPr/>
          <p:nvPr/>
        </p:nvSpPr>
        <p:spPr>
          <a:xfrm>
            <a:off x="9763344" y="3332747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D4CDBC-E2D2-F5DD-DE16-DF42BCBA202F}"/>
              </a:ext>
            </a:extLst>
          </p:cNvPr>
          <p:cNvSpPr txBox="1"/>
          <p:nvPr/>
        </p:nvSpPr>
        <p:spPr>
          <a:xfrm>
            <a:off x="659230" y="333274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F5653BA-F226-9931-F3CF-D87498DB179E}"/>
              </a:ext>
            </a:extLst>
          </p:cNvPr>
          <p:cNvSpPr txBox="1"/>
          <p:nvPr/>
        </p:nvSpPr>
        <p:spPr>
          <a:xfrm>
            <a:off x="802105" y="4018547"/>
            <a:ext cx="264036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 err="1">
                <a:solidFill>
                  <a:srgbClr val="0F172A"/>
                </a:solidFill>
                <a:latin typeface="Inter"/>
              </a:rPr>
              <a:t>Inisialisasi</a:t>
            </a:r>
            <a:endParaRPr sz="1500" b="1" i="0" u="none" dirty="0">
              <a:solidFill>
                <a:srgbClr val="0F172A"/>
              </a:solidFill>
              <a:latin typeface="Inter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D2A8F4-AAFF-EA3F-4ED4-EFE7A518DF7A}"/>
              </a:ext>
            </a:extLst>
          </p:cNvPr>
          <p:cNvSpPr txBox="1"/>
          <p:nvPr/>
        </p:nvSpPr>
        <p:spPr>
          <a:xfrm>
            <a:off x="802105" y="4323347"/>
            <a:ext cx="210695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Pemberian nilai awal variabel penghitung.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FD60E8-7231-A53F-D7A8-70C664E793BA}"/>
              </a:ext>
            </a:extLst>
          </p:cNvPr>
          <p:cNvSpPr txBox="1"/>
          <p:nvPr/>
        </p:nvSpPr>
        <p:spPr>
          <a:xfrm>
            <a:off x="2899539" y="333274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DEEFAA7-52D5-25C9-EEB0-EB0D2C587928}"/>
              </a:ext>
            </a:extLst>
          </p:cNvPr>
          <p:cNvSpPr txBox="1"/>
          <p:nvPr/>
        </p:nvSpPr>
        <p:spPr>
          <a:xfrm>
            <a:off x="3042414" y="4018547"/>
            <a:ext cx="264036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Cek Kondisi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A6F1EB-EB9B-7886-C323-CC48E638B0B6}"/>
              </a:ext>
            </a:extLst>
          </p:cNvPr>
          <p:cNvSpPr txBox="1"/>
          <p:nvPr/>
        </p:nvSpPr>
        <p:spPr>
          <a:xfrm>
            <a:off x="3042414" y="4323347"/>
            <a:ext cx="210695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Evaluasi syarat perulangan (True/False).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56F4232-0ECF-626B-31ED-B927A87F794D}"/>
              </a:ext>
            </a:extLst>
          </p:cNvPr>
          <p:cNvSpPr txBox="1"/>
          <p:nvPr/>
        </p:nvSpPr>
        <p:spPr>
          <a:xfrm>
            <a:off x="5139849" y="333274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 dirty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CB7641F-4CB3-D76E-2F4B-FAFEC2401C0F}"/>
              </a:ext>
            </a:extLst>
          </p:cNvPr>
          <p:cNvSpPr txBox="1"/>
          <p:nvPr/>
        </p:nvSpPr>
        <p:spPr>
          <a:xfrm>
            <a:off x="5282724" y="4018547"/>
            <a:ext cx="264036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Eksekusi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53B27FF-F364-FF0E-6282-EEF9EFADFCFE}"/>
              </a:ext>
            </a:extLst>
          </p:cNvPr>
          <p:cNvSpPr txBox="1"/>
          <p:nvPr/>
        </p:nvSpPr>
        <p:spPr>
          <a:xfrm>
            <a:off x="5282724" y="4323347"/>
            <a:ext cx="210695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Menjalankan blok kode di dalam loop.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63DB5E-16F7-EF34-0F68-A546068AC549}"/>
              </a:ext>
            </a:extLst>
          </p:cNvPr>
          <p:cNvSpPr txBox="1"/>
          <p:nvPr/>
        </p:nvSpPr>
        <p:spPr>
          <a:xfrm>
            <a:off x="7380159" y="333274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9D3BA7-8E9E-67E3-9716-23E366075329}"/>
              </a:ext>
            </a:extLst>
          </p:cNvPr>
          <p:cNvSpPr txBox="1"/>
          <p:nvPr/>
        </p:nvSpPr>
        <p:spPr>
          <a:xfrm>
            <a:off x="7523034" y="4018547"/>
            <a:ext cx="2640369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Update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B187375-DC20-5A6A-311A-220D2CA14DD3}"/>
              </a:ext>
            </a:extLst>
          </p:cNvPr>
          <p:cNvSpPr txBox="1"/>
          <p:nvPr/>
        </p:nvSpPr>
        <p:spPr>
          <a:xfrm>
            <a:off x="7523034" y="4323347"/>
            <a:ext cx="210695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Mengubah nilai variabel penghitung.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54042A2-FC9E-6641-B73A-D0D9B1C133C5}"/>
              </a:ext>
            </a:extLst>
          </p:cNvPr>
          <p:cNvSpPr txBox="1"/>
          <p:nvPr/>
        </p:nvSpPr>
        <p:spPr>
          <a:xfrm>
            <a:off x="9620469" y="3332747"/>
            <a:ext cx="74295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 u="none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B2D727B-D7EB-E18C-FDF6-1369119CE510}"/>
              </a:ext>
            </a:extLst>
          </p:cNvPr>
          <p:cNvSpPr txBox="1"/>
          <p:nvPr/>
        </p:nvSpPr>
        <p:spPr>
          <a:xfrm>
            <a:off x="9763344" y="4018547"/>
            <a:ext cx="262116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Ulangi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A523AD0-7216-FFEE-2DC2-9A285551A467}"/>
              </a:ext>
            </a:extLst>
          </p:cNvPr>
          <p:cNvSpPr txBox="1"/>
          <p:nvPr/>
        </p:nvSpPr>
        <p:spPr>
          <a:xfrm>
            <a:off x="9763344" y="4323347"/>
            <a:ext cx="25146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64748B"/>
                </a:solidFill>
                <a:latin typeface="Inter"/>
              </a:rPr>
              <a:t>Kembali ke langkah 2.</a:t>
            </a:r>
          </a:p>
        </p:txBody>
      </p:sp>
      <p:sp>
        <p:nvSpPr>
          <p:cNvPr id="62" name="Rectangle: Single Corner Rounded 61">
            <a:extLst>
              <a:ext uri="{FF2B5EF4-FFF2-40B4-BE49-F238E27FC236}">
                <a16:creationId xmlns:a16="http://schemas.microsoft.com/office/drawing/2014/main" id="{5DD7319C-CE6A-56DE-BD64-55C01E599B2F}"/>
              </a:ext>
            </a:extLst>
          </p:cNvPr>
          <p:cNvSpPr/>
          <p:nvPr/>
        </p:nvSpPr>
        <p:spPr>
          <a:xfrm rot="10800000">
            <a:off x="7118425" y="-4"/>
            <a:ext cx="5073574" cy="879570"/>
          </a:xfrm>
          <a:prstGeom prst="round1Rect">
            <a:avLst>
              <a:gd name="adj" fmla="val 32946"/>
            </a:avLst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D02DFEA-9D61-D50C-AD7A-AF72609D685C}"/>
              </a:ext>
            </a:extLst>
          </p:cNvPr>
          <p:cNvSpPr txBox="1"/>
          <p:nvPr/>
        </p:nvSpPr>
        <p:spPr>
          <a:xfrm>
            <a:off x="7118426" y="124816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/>
              <a:t>PROGRAM STUDI TEKNIK INFORMATIKA</a:t>
            </a:r>
          </a:p>
          <a:p>
            <a:r>
              <a:rPr lang="id-ID" dirty="0"/>
              <a:t>UNIVERSITAS MUHAMMADIYAH CILEUNGSI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28BB9C57-12A2-0270-90B0-F7362A8E1C56}"/>
              </a:ext>
            </a:extLst>
          </p:cNvPr>
          <p:cNvSpPr/>
          <p:nvPr/>
        </p:nvSpPr>
        <p:spPr>
          <a:xfrm>
            <a:off x="11252791" y="33713"/>
            <a:ext cx="963730" cy="784893"/>
          </a:xfrm>
          <a:prstGeom prst="rect">
            <a:avLst/>
          </a:prstGeom>
          <a:solidFill>
            <a:srgbClr val="B7DEE8"/>
          </a:solidFill>
          <a:ln>
            <a:solidFill>
              <a:srgbClr val="B7DE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843DC522-313C-F414-2576-7C93FA991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2791" y="0"/>
            <a:ext cx="846308" cy="79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511295"/>
      </p:ext>
    </p:extLst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/>
      <p:bldP spid="32" grpId="0"/>
      <p:bldP spid="34" grpId="0"/>
      <p:bldP spid="36" grpId="0"/>
      <p:bldP spid="38" grpId="0"/>
      <p:bldP spid="40" grpId="0"/>
      <p:bldP spid="42" grpId="0"/>
      <p:bldP spid="44" grpId="0"/>
      <p:bldP spid="46" grpId="0"/>
      <p:bldP spid="48" grpId="0"/>
      <p:bldP spid="50" grpId="0"/>
      <p:bldP spid="52" grpId="0"/>
      <p:bldP spid="54" grpId="0"/>
      <p:bldP spid="56" grpId="0"/>
      <p:bldP spid="5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D03526A-AEA7-F2AC-31DE-1DC67A6E297A}"/>
              </a:ext>
            </a:extLst>
          </p:cNvPr>
          <p:cNvSpPr txBox="1"/>
          <p:nvPr/>
        </p:nvSpPr>
        <p:spPr>
          <a:xfrm>
            <a:off x="2023049" y="1274936"/>
            <a:ext cx="2061462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200" b="1" i="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Pseudocode</a:t>
            </a:r>
            <a:endParaRPr sz="3200" b="1" i="0" u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pace Grotes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350FD7-79AC-EBC0-8205-C6C93691A5B6}"/>
              </a:ext>
            </a:extLst>
          </p:cNvPr>
          <p:cNvSpPr txBox="1"/>
          <p:nvPr/>
        </p:nvSpPr>
        <p:spPr>
          <a:xfrm>
            <a:off x="7118426" y="124816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>
                <a:solidFill>
                  <a:schemeClr val="bg1"/>
                </a:solidFill>
              </a:rPr>
              <a:t>PROGRAM STUDI TEKNIK INFORMATIKA</a:t>
            </a:r>
          </a:p>
          <a:p>
            <a:r>
              <a:rPr lang="id-ID" dirty="0">
                <a:solidFill>
                  <a:schemeClr val="bg1"/>
                </a:solidFill>
              </a:rPr>
              <a:t>UNIVERSITAS MUHAMMADIYAH CILEUNGSI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54748D3-2FA0-8245-EDCD-AE0639E40A57}"/>
              </a:ext>
            </a:extLst>
          </p:cNvPr>
          <p:cNvSpPr/>
          <p:nvPr/>
        </p:nvSpPr>
        <p:spPr>
          <a:xfrm>
            <a:off x="644950" y="1943017"/>
            <a:ext cx="4817660" cy="311168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4E7AA0F9-A64D-8EAD-E7D5-F8EA1AFAD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84184"/>
            <a:ext cx="5730240" cy="20345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CA1342B6-435A-053C-FDA0-F54BE22E4688}"/>
              </a:ext>
            </a:extLst>
          </p:cNvPr>
          <p:cNvSpPr txBox="1"/>
          <p:nvPr/>
        </p:nvSpPr>
        <p:spPr>
          <a:xfrm>
            <a:off x="7465046" y="1249435"/>
            <a:ext cx="1694566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200" b="1" i="0" u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Flowchart</a:t>
            </a:r>
            <a:endParaRPr sz="3200" b="1" i="0" u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pace Grotesk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5765967-4CE7-9C37-9CE6-837E23CEA2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134" r="26773" b="35721"/>
          <a:stretch>
            <a:fillRect/>
          </a:stretch>
        </p:blipFill>
        <p:spPr>
          <a:xfrm>
            <a:off x="6375190" y="1863953"/>
            <a:ext cx="3874279" cy="486923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9907F0-43A7-3381-A6A0-71F6B0F7BF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065" y="-1"/>
            <a:ext cx="838168" cy="785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25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  <p:bldP spid="29" grpId="0" animBg="1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CE8D3-205C-156F-9C19-A00026CC6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1C08B49-F599-28C7-1572-40AC90D9916A}"/>
              </a:ext>
            </a:extLst>
          </p:cNvPr>
          <p:cNvSpPr txBox="1"/>
          <p:nvPr/>
        </p:nvSpPr>
        <p:spPr>
          <a:xfrm>
            <a:off x="159767" y="75461"/>
            <a:ext cx="5805628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Program Python dan </a:t>
            </a:r>
            <a:r>
              <a:rPr lang="en-US" sz="32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Penjelasanya</a:t>
            </a:r>
            <a:endParaRPr sz="3200" b="1" i="0" u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pace Grotesk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0140A2-6189-7AC4-D7D1-5BFDF5AFD3CF}"/>
              </a:ext>
            </a:extLst>
          </p:cNvPr>
          <p:cNvSpPr txBox="1"/>
          <p:nvPr/>
        </p:nvSpPr>
        <p:spPr>
          <a:xfrm>
            <a:off x="7118426" y="124816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>
                <a:solidFill>
                  <a:schemeClr val="bg1"/>
                </a:solidFill>
              </a:rPr>
              <a:t>PROGRAM STUDI TEKNIK INFORMATIKA</a:t>
            </a:r>
          </a:p>
          <a:p>
            <a:r>
              <a:rPr lang="id-ID" dirty="0">
                <a:solidFill>
                  <a:schemeClr val="bg1"/>
                </a:solidFill>
              </a:rPr>
              <a:t>UNIVERSITAS MUHAMMADIYAH CILEUNGSI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5213639-F79D-60D4-37FA-597145137578}"/>
              </a:ext>
            </a:extLst>
          </p:cNvPr>
          <p:cNvSpPr/>
          <p:nvPr/>
        </p:nvSpPr>
        <p:spPr>
          <a:xfrm>
            <a:off x="0" y="1605352"/>
            <a:ext cx="6516804" cy="431898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7F2DBA9-7F2C-B702-9570-38A2516C6B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94065" y="-1"/>
            <a:ext cx="838168" cy="78541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99EFA1-9FEE-594B-C773-3D3F029F945A}"/>
              </a:ext>
            </a:extLst>
          </p:cNvPr>
          <p:cNvSpPr txBox="1"/>
          <p:nvPr/>
        </p:nvSpPr>
        <p:spPr>
          <a:xfrm>
            <a:off x="-1" y="1605352"/>
            <a:ext cx="7642708" cy="4115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nama_toko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"Toko Pak Joko"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targetday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d-ID" sz="1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450_000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uang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id-ID" sz="1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d-ID" sz="1600" kern="0" dirty="0">
                <a:solidFill>
                  <a:srgbClr val="D7BA7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\n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=== 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nama_toko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==="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600" kern="0" dirty="0">
                <a:solidFill>
                  <a:srgbClr val="C586C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d-ID" sz="1600" kern="0" dirty="0">
                <a:solidFill>
                  <a:srgbClr val="4EC9B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range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1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id-ID" sz="1600" kern="0" dirty="0">
                <a:solidFill>
                  <a:srgbClr val="B5CEA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uang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+= </a:t>
            </a: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targetday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id-ID" sz="1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"Day -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hari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 Rp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uang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:,}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d-ID" sz="1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"-----------------------"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  <a:p>
            <a:pPr>
              <a:lnSpc>
                <a:spcPct val="98958"/>
              </a:lnSpc>
              <a:spcAft>
                <a:spcPts val="800"/>
              </a:spcAft>
              <a:buNone/>
            </a:pPr>
            <a:r>
              <a:rPr lang="id-ID" sz="1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"Total in Day 7: Rp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id-ID" sz="1600" kern="0" dirty="0">
                <a:solidFill>
                  <a:srgbClr val="9CDCFE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uang</a:t>
            </a:r>
            <a:r>
              <a:rPr lang="id-ID" sz="1600" kern="0" dirty="0">
                <a:solidFill>
                  <a:srgbClr val="569CD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:,}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id-ID" sz="1600" kern="0" dirty="0">
                <a:solidFill>
                  <a:srgbClr val="DCDC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replace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id-ID" sz="1600" kern="0" dirty="0">
                <a:solidFill>
                  <a:srgbClr val="CE917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"."</a:t>
            </a:r>
            <a:r>
              <a:rPr lang="id-ID" sz="1600" kern="0" dirty="0">
                <a:solidFill>
                  <a:srgbClr val="D4D4D4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id-ID" sz="2000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895CF8-E684-0B4A-8ACF-055A325F1416}"/>
              </a:ext>
            </a:extLst>
          </p:cNvPr>
          <p:cNvSpPr txBox="1"/>
          <p:nvPr/>
        </p:nvSpPr>
        <p:spPr>
          <a:xfrm>
            <a:off x="6676572" y="758273"/>
            <a:ext cx="551542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d-ID" dirty="0">
                <a:solidFill>
                  <a:schemeClr val="bg1"/>
                </a:solidFill>
              </a:rPr>
              <a:t>1. Menyiapkan variabel teks untuk menyimpan nama toko</a:t>
            </a:r>
          </a:p>
          <a:p>
            <a:r>
              <a:rPr lang="id-ID" dirty="0">
                <a:solidFill>
                  <a:schemeClr val="bg1"/>
                </a:solidFill>
              </a:rPr>
              <a:t>2. Menentukan target pendapatan harian (tanda '_' hanya visual agar mudah dibaca)</a:t>
            </a:r>
          </a:p>
          <a:p>
            <a:r>
              <a:rPr lang="id-ID" dirty="0">
                <a:solidFill>
                  <a:schemeClr val="bg1"/>
                </a:solidFill>
              </a:rPr>
              <a:t>3. Menyiapkan variabel akumulator awal bernilai 0 untuk menampung total uang</a:t>
            </a:r>
          </a:p>
          <a:p>
            <a:r>
              <a:rPr lang="id-ID" dirty="0">
                <a:solidFill>
                  <a:schemeClr val="bg1"/>
                </a:solidFill>
              </a:rPr>
              <a:t>4. (Baris kosong) Memberi jarak pemisah rapi antar kode</a:t>
            </a:r>
          </a:p>
          <a:p>
            <a:r>
              <a:rPr lang="id-ID" dirty="0">
                <a:solidFill>
                  <a:schemeClr val="bg1"/>
                </a:solidFill>
              </a:rPr>
              <a:t>5. Mencetak nama toko sebagai judul (\n memberikan baris kosong di atasnya)</a:t>
            </a:r>
          </a:p>
          <a:p>
            <a:r>
              <a:rPr lang="id-ID" dirty="0">
                <a:solidFill>
                  <a:schemeClr val="bg1"/>
                </a:solidFill>
              </a:rPr>
              <a:t>6. (Baris kosong) Memberi jarak pemisah sebelum struktur perulangan</a:t>
            </a:r>
          </a:p>
          <a:p>
            <a:r>
              <a:rPr lang="id-ID" dirty="0">
                <a:solidFill>
                  <a:schemeClr val="bg1"/>
                </a:solidFill>
              </a:rPr>
              <a:t>7. Memulai perulangan 7 kali (range(1, 8) artinya berhenti di angka 7)</a:t>
            </a:r>
          </a:p>
          <a:p>
            <a:r>
              <a:rPr lang="id-ID" dirty="0">
                <a:solidFill>
                  <a:schemeClr val="bg1"/>
                </a:solidFill>
              </a:rPr>
              <a:t>8. Menambahkan target harian ke total akumulasi uang (singkatan dari uang = uang + targetday)</a:t>
            </a:r>
          </a:p>
          <a:p>
            <a:r>
              <a:rPr lang="id-ID" dirty="0">
                <a:solidFill>
                  <a:schemeClr val="bg1"/>
                </a:solidFill>
              </a:rPr>
              <a:t>9. Mencetak total harian dengan format pemisah ribuan titik gaya Indonesia</a:t>
            </a:r>
          </a:p>
          <a:p>
            <a:r>
              <a:rPr lang="id-ID" dirty="0">
                <a:solidFill>
                  <a:schemeClr val="bg1"/>
                </a:solidFill>
              </a:rPr>
              <a:t>10. (Baris kosong) Memberi jarak pemisah setelah perulangan selesai</a:t>
            </a:r>
          </a:p>
          <a:p>
            <a:r>
              <a:rPr lang="id-ID" dirty="0">
                <a:solidFill>
                  <a:schemeClr val="bg1"/>
                </a:solidFill>
              </a:rPr>
              <a:t>11. Mencetak garis pemisah output</a:t>
            </a:r>
          </a:p>
          <a:p>
            <a:r>
              <a:rPr lang="id-ID" dirty="0">
                <a:solidFill>
                  <a:schemeClr val="bg1"/>
                </a:solidFill>
              </a:rPr>
              <a:t>12. Mencetak hasil akumulasi pendapatan akhir pada hari ke-7</a:t>
            </a:r>
          </a:p>
        </p:txBody>
      </p:sp>
    </p:spTree>
    <p:extLst>
      <p:ext uri="{BB962C8B-B14F-4D97-AF65-F5344CB8AC3E}">
        <p14:creationId xmlns:p14="http://schemas.microsoft.com/office/powerpoint/2010/main" val="627128817"/>
      </p:ext>
    </p:extLst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 animBg="1"/>
      <p:bldP spid="3" grpId="0"/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websites\free-power-point-templates\2012\log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204981" y="6155385"/>
            <a:ext cx="1951712" cy="702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D0AE41F-F4E1-67B5-5E13-802C5C833D32}"/>
              </a:ext>
            </a:extLst>
          </p:cNvPr>
          <p:cNvSpPr txBox="1"/>
          <p:nvPr/>
        </p:nvSpPr>
        <p:spPr>
          <a:xfrm>
            <a:off x="261257" y="6260470"/>
            <a:ext cx="416501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TEMPLATE FROM                    </a:t>
            </a:r>
            <a:endParaRPr sz="3200" b="1" i="0" u="none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pace Grotesk"/>
            </a:endParaRPr>
          </a:p>
        </p:txBody>
      </p:sp>
      <p:pic>
        <p:nvPicPr>
          <p:cNvPr id="4" name="Picture 2" descr="Terimakasih Sticker for iOS &amp; Android | GIPHY">
            <a:extLst>
              <a:ext uri="{FF2B5EF4-FFF2-40B4-BE49-F238E27FC236}">
                <a16:creationId xmlns:a16="http://schemas.microsoft.com/office/drawing/2014/main" id="{3985E117-CAA8-B719-2EF0-C39F32D0305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722" y="3838489"/>
            <a:ext cx="6310553" cy="2458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EF6B55F1-0B34-3E2C-6E6B-18DC69187B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2419350"/>
            <a:ext cx="762000" cy="609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118DCE-8B6B-DF7E-8F30-4826B36362C2}"/>
              </a:ext>
            </a:extLst>
          </p:cNvPr>
          <p:cNvSpPr txBox="1"/>
          <p:nvPr/>
        </p:nvSpPr>
        <p:spPr>
          <a:xfrm>
            <a:off x="4680804" y="3333750"/>
            <a:ext cx="2830390" cy="64633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200" b="1" i="0" u="none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Terima</a:t>
            </a:r>
            <a:r>
              <a:rPr sz="4200" b="1" i="0" u="none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pace Grotesk"/>
              </a:rPr>
              <a:t> Kasih</a:t>
            </a:r>
          </a:p>
        </p:txBody>
      </p:sp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488</Words>
  <Application>Microsoft Office PowerPoint</Application>
  <PresentationFormat>Widescreen</PresentationFormat>
  <Paragraphs>92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Inter</vt:lpstr>
      <vt:lpstr>Space Grotesk</vt:lpstr>
      <vt:lpstr>Arial</vt:lpstr>
      <vt:lpstr>Calibri</vt:lpstr>
      <vt:lpstr>Consolas</vt:lpstr>
      <vt:lpstr>1_Office Theme</vt:lpstr>
      <vt:lpstr>Algoritma Perulangan For Loop</vt:lpstr>
      <vt:lpstr> Apa Itu Looping? </vt:lpstr>
      <vt:lpstr>PowerPoint Presentation</vt:lpstr>
      <vt:lpstr>Tiga Bagian Penting Sintaks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Ventuy Susantuy PC</dc:creator>
  <cp:lastModifiedBy>Ventuy Susantuy PC</cp:lastModifiedBy>
  <cp:revision>4</cp:revision>
  <dcterms:created xsi:type="dcterms:W3CDTF">2026-10-15T08:33:34Z</dcterms:created>
  <dcterms:modified xsi:type="dcterms:W3CDTF">2026-10-15T10:38:52Z</dcterms:modified>
</cp:coreProperties>
</file>